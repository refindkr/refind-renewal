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71993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4660"/>
  </p:normalViewPr>
  <p:slideViewPr>
    <p:cSldViewPr snapToGrid="0">
      <p:cViewPr>
        <p:scale>
          <a:sx n="66" d="100"/>
          <a:sy n="66" d="100"/>
        </p:scale>
        <p:origin x="355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5656C-73A2-4DA5-A413-DD539A0F76FB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401888" y="1143000"/>
            <a:ext cx="2054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87E64-D6A4-402B-97E9-4A669871D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3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401888" y="1143000"/>
            <a:ext cx="2054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87E64-D6A4-402B-97E9-4A669871D6C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59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챕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8E3D2D9-B125-1B7D-0F0C-77C56FD618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90524" y="552450"/>
            <a:ext cx="3872193" cy="603997"/>
          </a:xfrm>
          <a:prstGeom prst="rect">
            <a:avLst/>
          </a:prstGeom>
        </p:spPr>
        <p:txBody>
          <a:bodyPr/>
          <a:lstStyle>
            <a:lvl1pPr>
              <a:buNone/>
              <a:defRPr sz="1400" b="1"/>
            </a:lvl1pPr>
          </a:lstStyle>
          <a:p>
            <a:pPr>
              <a:lnSpc>
                <a:spcPct val="150000"/>
              </a:lnSpc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챕터</a:t>
            </a:r>
            <a:endParaRPr lang="ko-KR" alt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4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품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962B245-7673-C55F-2CA9-A8940C39C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90524" y="552450"/>
            <a:ext cx="3872193" cy="603997"/>
          </a:xfrm>
          <a:prstGeom prst="rect">
            <a:avLst/>
          </a:prstGeom>
        </p:spPr>
        <p:txBody>
          <a:bodyPr/>
          <a:lstStyle>
            <a:lvl1pPr>
              <a:buNone/>
              <a:defRPr sz="1400" b="1"/>
            </a:lvl1pPr>
          </a:lstStyle>
          <a:p>
            <a:pPr>
              <a:lnSpc>
                <a:spcPct val="150000"/>
              </a:lnSpc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제품명 타이틀</a:t>
            </a:r>
            <a:endParaRPr lang="ko-KR" alt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072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97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719907" rtl="0" eaLnBrk="1" latinLnBrk="1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1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1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1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2DDB0482-6EE8-D290-4355-83A151EF7028}"/>
              </a:ext>
            </a:extLst>
          </p:cNvPr>
          <p:cNvSpPr txBox="1"/>
          <p:nvPr/>
        </p:nvSpPr>
        <p:spPr>
          <a:xfrm>
            <a:off x="390524" y="1189541"/>
            <a:ext cx="4498347" cy="1178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Hero Section: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압도적인 첫인상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비주얼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다크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모드 배경의 고해상도 </a:t>
            </a:r>
            <a:r>
              <a:rPr lang="en-US" altLang="ko-KR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렌더링 이미지 혹은 정밀한 움직임을 보여주는 루프 영상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메인 카피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Physical AI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완성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서브 카피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인간의 손을 완벽히 모사한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자유도 메커니즘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CTA 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사양서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(Whitepaper) 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다운로드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협업 문의하기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18AC03-710D-79EB-86BD-6FDF288C2123}"/>
              </a:ext>
            </a:extLst>
          </p:cNvPr>
          <p:cNvSpPr txBox="1"/>
          <p:nvPr/>
        </p:nvSpPr>
        <p:spPr>
          <a:xfrm>
            <a:off x="390524" y="2368133"/>
            <a:ext cx="5498621" cy="13632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Core Value: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왜 </a:t>
            </a:r>
            <a:r>
              <a:rPr lang="en-US" altLang="ko-KR" sz="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인가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? (3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 강점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 가지 핵심 가치를 아이콘과 함께 배치하여 전문성을 강조합니다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Precision Engineering 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정밀 공학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 "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인간과 유사한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자유도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(DOF)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구조로 비정형 물체에 대한 완벽한 파지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(Grasping)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Sensory Intelligence 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감각 지능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 "Tashan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촉각 센서 및 힘 피드백 시스템을 통한 실시간 데이터 수집 및 학습 최적화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 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(AP001, AP002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Tashan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센서 탑재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A002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– Tashan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센서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비탑재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Seamless Integration 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강력한 호환성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 "ROS2, Python, C++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기반의 오픈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SDK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제공으로 어떤 로봇 플랫폼에도 즉시 연동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2613C0-62DF-4E55-47B2-5B00FA2ABBD6}"/>
              </a:ext>
            </a:extLst>
          </p:cNvPr>
          <p:cNvSpPr txBox="1"/>
          <p:nvPr/>
        </p:nvSpPr>
        <p:spPr>
          <a:xfrm>
            <a:off x="390524" y="3884721"/>
            <a:ext cx="34050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Technical Deep Dive: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하드웨어의 정수</a:t>
            </a: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[01]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메커니즘의 혁신</a:t>
            </a: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구동부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고정밀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서보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모터와 자체 개발된 와이어 구동 시스템의 결합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성능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/>
              <a:t>파워 그립</a:t>
            </a:r>
            <a:r>
              <a:rPr lang="en-US" altLang="ko-KR" sz="800" dirty="0"/>
              <a:t>(Power grip) </a:t>
            </a:r>
            <a:r>
              <a:rPr lang="ko-KR" altLang="en-US" sz="800" dirty="0"/>
              <a:t>시 최대 </a:t>
            </a:r>
            <a:r>
              <a:rPr lang="en-US" altLang="ko-KR" sz="800" dirty="0"/>
              <a:t>30kg</a:t>
            </a:r>
            <a:r>
              <a:rPr lang="ko-KR" altLang="en-US" sz="800" dirty="0"/>
              <a:t>의 하중</a:t>
            </a:r>
            <a:r>
              <a:rPr lang="en-US" altLang="ko-KR" sz="800" dirty="0"/>
              <a:t>(Payload)</a:t>
            </a:r>
            <a:r>
              <a:rPr lang="ko-KR" altLang="en-US" sz="800" dirty="0"/>
              <a:t>을 견딜 수 있음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[02]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지능형 제어 시스템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피드백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관절별 각도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속도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토크 데이터 실시간 출력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 및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 개발을 위해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ROS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ROS2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플랫폼용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SDK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제공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4BBEE5-F600-E175-C59F-2E6F4FD6F6D8}"/>
              </a:ext>
            </a:extLst>
          </p:cNvPr>
          <p:cNvSpPr txBox="1"/>
          <p:nvPr/>
        </p:nvSpPr>
        <p:spPr>
          <a:xfrm>
            <a:off x="390524" y="5547382"/>
            <a:ext cx="53513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Connectivity: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개발자를 위한 배려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(B2B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 중 실무자인 연구원들이 가장 반기는 섹션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Plug &amp; Play: </a:t>
            </a:r>
            <a:r>
              <a:rPr lang="en-US" altLang="ko-KR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Realman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Elephant Robotics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등 글로벌 협동 로봇과 하드웨어 규격 호환 가능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Software Ecosystem: SDK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Windows, Linux(Ubuntu),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임베디드 시스템 플랫폼을 위한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SDK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Library:  </a:t>
            </a:r>
            <a:r>
              <a:rPr lang="ko-KR" altLang="en-US" sz="800" dirty="0"/>
              <a:t>단순 예제 코드를 넘어 </a:t>
            </a:r>
            <a:r>
              <a:rPr lang="en-US" altLang="ko-KR" sz="800" dirty="0" err="1"/>
              <a:t>SerialCtrl</a:t>
            </a:r>
            <a:r>
              <a:rPr lang="en-US" altLang="ko-KR" sz="800" dirty="0"/>
              <a:t> </a:t>
            </a:r>
            <a:r>
              <a:rPr lang="ko-KR" altLang="en-US" sz="800" dirty="0"/>
              <a:t>전용 시리얼 프로토콜</a:t>
            </a:r>
            <a:r>
              <a:rPr lang="en-US" altLang="ko-KR" sz="800" dirty="0"/>
              <a:t>, </a:t>
            </a:r>
            <a:r>
              <a:rPr lang="en-US" altLang="ko-KR" sz="800" dirty="0" err="1"/>
              <a:t>ModBus</a:t>
            </a:r>
            <a:r>
              <a:rPr lang="en-US" altLang="ko-KR" sz="800" dirty="0"/>
              <a:t>-RTU, CAN </a:t>
            </a:r>
            <a:r>
              <a:rPr lang="ko-KR" altLang="en-US" sz="800" dirty="0"/>
              <a:t>프로토콜을 폭넓게 지원</a:t>
            </a:r>
            <a:endParaRPr lang="en-US" altLang="ko-KR" sz="8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8D9637-EF8C-BE0A-445E-5443E32D23DB}"/>
              </a:ext>
            </a:extLst>
          </p:cNvPr>
          <p:cNvSpPr txBox="1"/>
          <p:nvPr/>
        </p:nvSpPr>
        <p:spPr>
          <a:xfrm>
            <a:off x="390524" y="6840711"/>
            <a:ext cx="37882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Use Cases: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실증 사례 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(Proof of Concept)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타겟 고객별로 적용 가능한 시나리오를 제시하여 구매 명분을 제공합니다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.)</a:t>
            </a: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연구소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대학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 &gt; 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파지 알고리즘 연구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 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고정밀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데이터 수집 및 논문 성과 극대화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휴머노이드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제조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차세대 로봇 인터페이스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인간 수준의 작업 수행 능력 확보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스마트 팩토리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비정형 물체 선별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(Picking)  &gt;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공정 자동화 범위 확대 및 불량률 감소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EC9D06-A35E-9DF9-AFA9-47D6D943498C}"/>
              </a:ext>
            </a:extLst>
          </p:cNvPr>
          <p:cNvSpPr txBox="1"/>
          <p:nvPr/>
        </p:nvSpPr>
        <p:spPr>
          <a:xfrm>
            <a:off x="390524" y="7980380"/>
            <a:ext cx="35333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6. Product Lineup &amp; Specs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비교표를 통해 고객이 자신의 목적에 맞는 모델을 바로 선택할 수 있게 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.)</a:t>
            </a:r>
          </a:p>
          <a:p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구조도 </a:t>
            </a:r>
            <a:r>
              <a:rPr lang="en-US" altLang="ko-KR" sz="8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img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추가할것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(Spec)</a:t>
            </a:r>
          </a:p>
          <a:p>
            <a:r>
              <a:rPr lang="en-US" altLang="ko-KR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Lite</a:t>
            </a:r>
          </a:p>
          <a:p>
            <a:r>
              <a:rPr lang="en-US" altLang="ko-KR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A002 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스펙표가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없음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AP001+AP002</a:t>
            </a: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자유도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제어 방식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촉각 센서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주요 소재 등 비교표 작성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59FFE1-8FB0-F322-536C-6B730BEF4813}"/>
              </a:ext>
            </a:extLst>
          </p:cNvPr>
          <p:cNvSpPr txBox="1"/>
          <p:nvPr/>
        </p:nvSpPr>
        <p:spPr>
          <a:xfrm>
            <a:off x="390524" y="9489381"/>
            <a:ext cx="32544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7. Trust &amp; Contact: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전문적인 마무리</a:t>
            </a:r>
            <a:endParaRPr lang="en-US" altLang="ko-KR" sz="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Partnership: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리파인과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함께하는 파트너사 로고 배치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신뢰도 제고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).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Support: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단순 판매를 넘어 기술 지원 및 커스텀 솔루션을 제공합니다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.“</a:t>
            </a:r>
          </a:p>
          <a:p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Final CTA: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미팅 신청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견적 요청서 작성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하단 정보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원주 본사 주소 및 기술 지원 연락처 명기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68CF061A-AD17-621A-9873-33FEE4D245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4" y="552450"/>
            <a:ext cx="3872193" cy="603997"/>
          </a:xfrm>
        </p:spPr>
        <p:txBody>
          <a:bodyPr/>
          <a:lstStyle/>
          <a:p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A002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상세페이지 내용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7C2A83-8FDF-65D1-AAA6-0EF7307E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741" y="7443346"/>
            <a:ext cx="3019324" cy="1976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A574BE-ED38-2B43-7998-81DD0447BF66}"/>
              </a:ext>
            </a:extLst>
          </p:cNvPr>
          <p:cNvSpPr txBox="1"/>
          <p:nvPr/>
        </p:nvSpPr>
        <p:spPr>
          <a:xfrm>
            <a:off x="5416007" y="958395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스펙표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1162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F07CBC-C33E-05F7-313E-35D460A602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AP001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상세페이지 내용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7DBD77-A73E-A4AC-5083-21974A71B925}"/>
              </a:ext>
            </a:extLst>
          </p:cNvPr>
          <p:cNvSpPr txBox="1"/>
          <p:nvPr/>
        </p:nvSpPr>
        <p:spPr>
          <a:xfrm>
            <a:off x="390524" y="1189541"/>
            <a:ext cx="5266185" cy="1224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/>
              <a:t>강력한 퍼포먼스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로봇 핸드의 표준을 정립하다</a:t>
            </a:r>
            <a:endParaRPr lang="en-US" altLang="ko-KR" sz="1000" b="1" dirty="0"/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비주얼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AP001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센서를 통해 가해지는 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(N, Newton)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실시간 그래프로 출력하며 정밀한 조립 작업을 수행하는 영상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메인 카피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힘을 읽고 제어하다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AP001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서브 카피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고정밀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포스 센서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(Force Sensor)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내장으로 실시간 힘 피드백 및 토크 제어 최적화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CTA 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사양서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(Whitepaper) 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다운로드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협업 문의하기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B1206-CFF1-A7D8-2A4B-90637750F24F}"/>
              </a:ext>
            </a:extLst>
          </p:cNvPr>
          <p:cNvSpPr txBox="1"/>
          <p:nvPr/>
        </p:nvSpPr>
        <p:spPr>
          <a:xfrm>
            <a:off x="390524" y="2368133"/>
            <a:ext cx="5695790" cy="1017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Core Value: </a:t>
            </a:r>
            <a:r>
              <a:rPr lang="ko-KR" altLang="en-US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왜 </a:t>
            </a:r>
            <a:r>
              <a:rPr lang="en-US" altLang="ko-KR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AP001</a:t>
            </a:r>
            <a:r>
              <a:rPr lang="ko-KR" altLang="en-US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인가</a:t>
            </a:r>
            <a:r>
              <a:rPr lang="en-US" altLang="ko-KR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? (3</a:t>
            </a:r>
            <a:r>
              <a:rPr lang="ko-KR" altLang="en-US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 강점</a:t>
            </a:r>
            <a:r>
              <a:rPr lang="en-US" altLang="ko-KR" sz="9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 가지 핵심 가치를 아이콘과 함께 배치하여 전문성을 강조합니다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Integrated Force Sensing 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내장형 포스 센싱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별도의 외부 센서 없이도 말단 부하를 정밀 측정하여 섬세한 힘 조절 가능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Bidirectional Feedback 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양방향 피드백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관절 각도 데이터와 포스 데이터를 결합하여 완성도 높은 로봇 경로 생성 및 학습 지원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Industrial Grade Reliability (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산업급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신뢰성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반복적인 힘 가압 환경에서도 변함없는 측정 정밀도와 내구성 보장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4955D-3E90-0894-1D1C-4234BCF366A2}"/>
              </a:ext>
            </a:extLst>
          </p:cNvPr>
          <p:cNvSpPr txBox="1"/>
          <p:nvPr/>
        </p:nvSpPr>
        <p:spPr>
          <a:xfrm>
            <a:off x="390524" y="3884721"/>
            <a:ext cx="65838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Technical Deep Dive: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하드웨어의 정수</a:t>
            </a:r>
          </a:p>
          <a:p>
            <a:endParaRPr lang="en-US" altLang="ko-KR" sz="800" b="1" dirty="0"/>
          </a:p>
          <a:p>
            <a:r>
              <a:rPr lang="en-US" altLang="ko-KR" sz="800" b="1" dirty="0"/>
              <a:t>[01] </a:t>
            </a:r>
            <a:r>
              <a:rPr lang="ko-KR" altLang="en-US" sz="800" b="1" dirty="0"/>
              <a:t>센서 테크놀로지</a:t>
            </a:r>
            <a:r>
              <a:rPr lang="en-US" altLang="ko-KR" sz="800" dirty="0"/>
              <a:t>:</a:t>
            </a:r>
          </a:p>
          <a:p>
            <a:r>
              <a:rPr lang="ko-KR" altLang="en-US" sz="800" dirty="0"/>
              <a:t>고감도 포스 센서를 통해 미세한 </a:t>
            </a:r>
            <a:r>
              <a:rPr lang="ko-KR" altLang="en-US" sz="800" dirty="0" err="1"/>
              <a:t>저항값</a:t>
            </a:r>
            <a:r>
              <a:rPr lang="ko-KR" altLang="en-US" sz="800" dirty="0"/>
              <a:t> 변화 감지</a:t>
            </a:r>
            <a:r>
              <a:rPr lang="en-US" altLang="ko-KR" sz="800" dirty="0"/>
              <a:t>.</a:t>
            </a:r>
          </a:p>
          <a:p>
            <a:r>
              <a:rPr lang="ko-KR" altLang="en-US" sz="800" dirty="0"/>
              <a:t>힘 제어 알고리즘 구현을 위한 초고속 데이터 샘플링</a:t>
            </a:r>
            <a:r>
              <a:rPr lang="en-US" altLang="ko-KR" sz="800" dirty="0"/>
              <a:t>(150Hz)</a:t>
            </a:r>
            <a:r>
              <a:rPr lang="ko-KR" altLang="en-US" sz="800" dirty="0"/>
              <a:t> 지원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b="1" dirty="0"/>
              <a:t>[02] </a:t>
            </a:r>
            <a:r>
              <a:rPr lang="ko-KR" altLang="en-US" sz="800" b="1" dirty="0"/>
              <a:t>지능형 제어 및 호환성</a:t>
            </a:r>
            <a:r>
              <a:rPr lang="en-US" altLang="ko-KR" sz="800" dirty="0"/>
              <a:t>:</a:t>
            </a:r>
          </a:p>
          <a:p>
            <a:r>
              <a:rPr lang="en-US" altLang="ko-KR" sz="800" b="1" dirty="0"/>
              <a:t>SDK </a:t>
            </a:r>
            <a:r>
              <a:rPr lang="ko-KR" altLang="en-US" sz="800" b="1" dirty="0"/>
              <a:t>지원</a:t>
            </a:r>
            <a:r>
              <a:rPr lang="en-US" altLang="ko-KR" sz="800" dirty="0"/>
              <a:t>: </a:t>
            </a:r>
            <a:r>
              <a:rPr lang="ko-KR" altLang="en-US" sz="800" dirty="0"/>
              <a:t>포스 데이터 수집 및 분석을 위한 전용 라이브러리 제공 </a:t>
            </a:r>
            <a:r>
              <a:rPr lang="en-US" altLang="ko-KR" sz="800" dirty="0"/>
              <a:t>(Python, C++). </a:t>
            </a:r>
          </a:p>
          <a:p>
            <a:r>
              <a:rPr lang="ko-KR" altLang="en-US" sz="800" b="1" dirty="0"/>
              <a:t>인터페이스와 프로토콜</a:t>
            </a:r>
            <a:r>
              <a:rPr lang="en-US" altLang="ko-KR" sz="800" dirty="0"/>
              <a:t>: </a:t>
            </a:r>
            <a:r>
              <a:rPr lang="en-US" altLang="ko-KR" sz="800" b="1" dirty="0"/>
              <a:t>UART, RS485, CAN</a:t>
            </a:r>
            <a:r>
              <a:rPr lang="ko-KR" altLang="en-US" sz="800" dirty="0"/>
              <a:t> 인터페이스를 모두 지원하며</a:t>
            </a:r>
            <a:r>
              <a:rPr lang="en-US" altLang="ko-KR" sz="800" dirty="0"/>
              <a:t>, </a:t>
            </a:r>
            <a:r>
              <a:rPr lang="ko-KR" altLang="en-US" sz="800" dirty="0"/>
              <a:t>프로토콜 또한 </a:t>
            </a:r>
            <a:r>
              <a:rPr lang="en-US" altLang="ko-KR" sz="800" b="1" dirty="0" err="1"/>
              <a:t>SerialCtrl</a:t>
            </a:r>
            <a:r>
              <a:rPr lang="ko-KR" altLang="en-US" sz="800" dirty="0"/>
              <a:t> 전용 프로토콜과 </a:t>
            </a:r>
            <a:r>
              <a:rPr lang="en-US" altLang="ko-KR" sz="800" b="1" dirty="0" err="1"/>
              <a:t>ModBus</a:t>
            </a:r>
            <a:r>
              <a:rPr lang="en-US" altLang="ko-KR" sz="800" b="1" dirty="0"/>
              <a:t>-RTU, CAN</a:t>
            </a:r>
            <a:r>
              <a:rPr lang="ko-KR" altLang="en-US" sz="800" dirty="0"/>
              <a:t> 지원</a:t>
            </a:r>
            <a:endParaRPr lang="en-US" altLang="ko-KR" sz="800" dirty="0"/>
          </a:p>
          <a:p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센서의정밀도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범위는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0.1N ~ 25N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이며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반복 정밀도는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±20%(500g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부하 시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이며 미세한 변화 감지가 가능합니다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363CC-842B-BCB8-3322-1C4168E868CE}"/>
              </a:ext>
            </a:extLst>
          </p:cNvPr>
          <p:cNvSpPr txBox="1"/>
          <p:nvPr/>
        </p:nvSpPr>
        <p:spPr>
          <a:xfrm>
            <a:off x="390524" y="5547382"/>
            <a:ext cx="5351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4. Use Cases: </a:t>
            </a:r>
            <a:r>
              <a:rPr lang="ko-KR" altLang="en-US" sz="800" b="1" dirty="0"/>
              <a:t>실증 사례 </a:t>
            </a:r>
            <a:r>
              <a:rPr lang="en-US" altLang="ko-KR" sz="800" b="1" dirty="0"/>
              <a:t>(AP001 </a:t>
            </a:r>
            <a:r>
              <a:rPr lang="ko-KR" altLang="en-US" sz="800" b="1" dirty="0"/>
              <a:t>특화</a:t>
            </a:r>
            <a:r>
              <a:rPr lang="en-US" altLang="ko-KR" sz="800" b="1" dirty="0"/>
              <a:t>)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(B2B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 중 실무자인 연구원들이 가장 반기는 섹션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endParaRPr lang="en-US" altLang="ko-KR" sz="8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정밀 조립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(Precision Assembly):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부품 결합 시 발생하는 힘을 감지하여 파손 방지 및 결합 품질 검수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표면 가공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(Deburring/Polishing):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일정한 압력을 유지하며 작업해야 하는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샌딩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및 연마 공정 자동화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바이오 연구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섬세한 조작이 필요한 시료 취급 및 힘 피드백 기반의 원격 수술 로봇 연구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3A034-2DA5-3B97-D18A-CB033726D1E1}"/>
              </a:ext>
            </a:extLst>
          </p:cNvPr>
          <p:cNvSpPr txBox="1"/>
          <p:nvPr/>
        </p:nvSpPr>
        <p:spPr>
          <a:xfrm>
            <a:off x="390524" y="6840711"/>
            <a:ext cx="37882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5. Use Cases: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실증 사례 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(Proof of Concept)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타겟 고객별로 적용 가능한 시나리오를 제시하여 구매 명분을 제공합니다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.)</a:t>
            </a: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연구소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대학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 &gt; 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파지 알고리즘 연구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 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고정밀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데이터 수집 및 논문 성과 극대화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휴머노이드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제조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차세대 로봇 인터페이스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인간 수준의 작업 수행 능력 확보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스마트 팩토리 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&gt; 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비정형 물체 선별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(Picking)  &gt;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공정 자동화 범위 확대 및 불량률 감소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1E8E8-8DF4-0F21-72AD-8383F01419D9}"/>
              </a:ext>
            </a:extLst>
          </p:cNvPr>
          <p:cNvSpPr txBox="1"/>
          <p:nvPr/>
        </p:nvSpPr>
        <p:spPr>
          <a:xfrm>
            <a:off x="390524" y="7980380"/>
            <a:ext cx="35333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6. Product Lineup &amp; Specs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비교표를 통해 고객이 자신의 목적에 맞는 모델을 바로 선택할 수 있게 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.)</a:t>
            </a:r>
          </a:p>
          <a:p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구조도 </a:t>
            </a:r>
            <a:r>
              <a:rPr lang="en-US" altLang="ko-KR" sz="8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img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추가할것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(Spec)</a:t>
            </a:r>
          </a:p>
          <a:p>
            <a:r>
              <a:rPr lang="en-US" altLang="ko-KR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Lite</a:t>
            </a:r>
          </a:p>
          <a:p>
            <a:r>
              <a:rPr lang="en-US" altLang="ko-KR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ROHand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A002 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스펙표가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없음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AP001+AP002</a:t>
            </a: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자유도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제어 방식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촉각 센서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주요 소재 등 비교표 작성</a:t>
            </a:r>
            <a:endParaRPr lang="en-US" altLang="ko-KR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43A00-BD0A-2F46-385A-9E8B924F15DD}"/>
              </a:ext>
            </a:extLst>
          </p:cNvPr>
          <p:cNvSpPr txBox="1"/>
          <p:nvPr/>
        </p:nvSpPr>
        <p:spPr>
          <a:xfrm>
            <a:off x="390524" y="9489381"/>
            <a:ext cx="32544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7. Trust &amp; Contact: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전문적인 마무리</a:t>
            </a:r>
            <a:endParaRPr lang="en-US" altLang="ko-KR" sz="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Partnership: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리파인과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함께하는 파트너사 로고 배치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신뢰도 제고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).</a:t>
            </a:r>
          </a:p>
          <a:p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Support: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단순 판매를 넘어 기술 지원 및 커스텀 솔루션을 제공합니다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.“</a:t>
            </a:r>
          </a:p>
          <a:p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Final CTA: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미팅 신청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 [</a:t>
            </a:r>
            <a:r>
              <a:rPr lang="ko-KR" altLang="en-US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견적 요청서 작성</a:t>
            </a:r>
            <a:r>
              <a:rPr lang="en-US" altLang="ko-KR" sz="8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하단 정보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원주 본사 주소 및 기술 지원 연락처 명기</a:t>
            </a:r>
            <a:r>
              <a:rPr lang="en-US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6EC28B1-A6BC-8BC5-2E7A-29BE48A6B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55" y="7225659"/>
            <a:ext cx="3019324" cy="19765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BA8F74A-6BDB-A603-2D8E-E719C266258C}"/>
              </a:ext>
            </a:extLst>
          </p:cNvPr>
          <p:cNvSpPr txBox="1"/>
          <p:nvPr/>
        </p:nvSpPr>
        <p:spPr>
          <a:xfrm>
            <a:off x="5364221" y="936627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스펙표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0867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C573272-2E38-A50A-17C6-7BDEF93B4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97" y="1348644"/>
            <a:ext cx="5356860" cy="810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[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ROHand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AP002 상세페이지 기획안]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1.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Hero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Section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: 촉각 지능의 정점 (The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Peak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of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Tactile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Intelligence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비주얼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다크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모드 배경에서 ROH-AP002의 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3D 포스 센서 매트릭스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가 시각화(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Heatmap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형태)되어 물체의 형태와 압력을 실시간으로 감지하는 고해상도 루프 영상.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메인 카피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로봇에게 '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촉각'을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부여하다,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ROHand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AP002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서브 카피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3D 포스 센서 매트릭스와 11x5 팜(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Palm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 센서로 구현하는 차세대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고정밀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센싱 솔루션.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CTA 버튼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[기술 사양서 다운로드] [센서 데이터 샘플 요청] [협업 문의하기].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2.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Core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Value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: 왜 AP002인가? (3대 강점)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Multidimensional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Sensing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(다차원 감각)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손가락 끝의 3D 포스 센서와 손바닥의 고밀도 도트 매트릭스 센서를 통해 인간에 가까운 촉각 데이터를 수집합니다.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Ultra-Responsive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Performance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(초고속 반응)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0.7초의 빠른 구동 속도와 6자유도(DOF) 메커니즘으로 실시간 피드백 제어에 최적화되어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Versatile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Connectivity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(광범위한 호환성)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UART, RS485는 물론 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CAN FD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인터페이스를 지원하여 고대역폭 데이터 전송이 가능합니다.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3.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Technical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Deep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Dive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: 센서 테크놀로지의 정수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[01] 3D 포스 &amp; 팜 매트릭스 센서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손가락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말단 부위 3D 포스 센싱(방향 분해능 1°) 및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기절골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수직항력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측정.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손바닥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11x5 도트 매트릭스 배치로 비정형 물체의 접촉면을 정밀하게 파악(샘플링 속도 150Hz).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[02] 정밀 제어 및 데이터 출력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관절별 각도, 속도, 토크 데이터와 함께 고차원 촉각 데이터를 실시간으로 출력하여 AI 학습 및 파지 알고리즘 연구에 최적의 환경을 제공합니다.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터치스크린 조작이 가능한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핑거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패드 기능을 지원합니다.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4.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Connectivity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: 연구원을 위한 최상의 개발 환경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다양한 프로토콜 지원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SerialCtrl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,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ModBus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-RTU, CAN 프로토콜을 모두 지원하여 기존 시스템에 즉시 통합 가능합니다.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고성능 인터페이스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통합 케이블 설계와 CAN FD 지원으로 복잡한 배선 없이도 안정적인 통신을 보장합니다.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오픈 SDK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ROS/ROS2 플랫폼을 위한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SDK를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제공하여 2차 개발의 편의성을 극대화했습니다.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5.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Use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Cases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: 고성능 센서가 필요한 순간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AI 촉각 학습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물체의 질감, 강도, 형태를 학습하여 인간 수준의 파지 알고리즘을 개발하는 연구소.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정밀 조립 자동화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미세한 힘 조절이 필요한 정밀 부품 조립 및 품질 검수 공정.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차세대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휴머노이드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인간과 유사한 감각 피드백이 필요한 첨단 로봇 인터페이스 구축.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6.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Product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Lineup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&amp;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Specs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 (비교표용 데이터)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7. Trust &amp;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"/>
              </a:rPr>
              <a:t>Contact</a:t>
            </a: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구성품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ROH-AP002 본체, 디지털 매뉴얼, 인증서, 보증서.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품질 보증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판매일로부터 12개월 무상 보증 제공.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기술 지원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: 전문 엔지니어를 통한 커스텀 솔루션 및 SDK 기술 지원.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AE383B-FD0D-B3BE-32AA-AFA2413E03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7129" y="276224"/>
            <a:ext cx="3872193" cy="10247313"/>
          </a:xfrm>
        </p:spPr>
        <p:txBody>
          <a:bodyPr/>
          <a:lstStyle/>
          <a:p>
            <a:r>
              <a:rPr lang="en-US" altLang="ko-KR" sz="700" b="0" dirty="0">
                <a:latin typeface="+mj-ea"/>
                <a:ea typeface="+mj-ea"/>
              </a:rPr>
              <a:t>[REALBOT / </a:t>
            </a:r>
            <a:r>
              <a:rPr lang="en-US" altLang="ko-KR" sz="700" b="0" dirty="0" err="1">
                <a:latin typeface="+mj-ea"/>
                <a:ea typeface="+mj-ea"/>
              </a:rPr>
              <a:t>RealMan</a:t>
            </a:r>
            <a:r>
              <a:rPr lang="en-US" altLang="ko-KR" sz="700" b="0" dirty="0">
                <a:latin typeface="+mj-ea"/>
                <a:ea typeface="+mj-ea"/>
              </a:rPr>
              <a:t> </a:t>
            </a:r>
            <a:r>
              <a:rPr lang="ko-KR" altLang="en-US" sz="700" b="0" dirty="0">
                <a:latin typeface="+mj-ea"/>
                <a:ea typeface="+mj-ea"/>
              </a:rPr>
              <a:t>상세페이지 기획안</a:t>
            </a:r>
            <a:r>
              <a:rPr lang="en-US" altLang="ko-KR" sz="700" b="0" dirty="0">
                <a:latin typeface="+mj-ea"/>
                <a:ea typeface="+mj-ea"/>
              </a:rPr>
              <a:t>]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1. Hero Section: Embodied Intelligence</a:t>
            </a:r>
            <a:r>
              <a:rPr lang="ko-KR" altLang="en-US" sz="700" b="0" dirty="0">
                <a:latin typeface="+mj-ea"/>
                <a:ea typeface="+mj-ea"/>
              </a:rPr>
              <a:t>의 시작</a:t>
            </a:r>
          </a:p>
          <a:p>
            <a:r>
              <a:rPr lang="ko-KR" altLang="en-US" sz="700" b="0" dirty="0">
                <a:latin typeface="+mj-ea"/>
                <a:ea typeface="+mj-ea"/>
              </a:rPr>
              <a:t>* 비주얼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en-US" altLang="ko-KR" sz="700" b="0" dirty="0" err="1">
                <a:latin typeface="+mj-ea"/>
                <a:ea typeface="+mj-ea"/>
              </a:rPr>
              <a:t>RealMan</a:t>
            </a:r>
            <a:r>
              <a:rPr lang="ko-KR" altLang="en-US" sz="700" b="0" dirty="0">
                <a:latin typeface="+mj-ea"/>
                <a:ea typeface="+mj-ea"/>
              </a:rPr>
              <a:t>의 초경량 로봇 팔</a:t>
            </a:r>
            <a:r>
              <a:rPr lang="en-US" altLang="ko-KR" sz="700" b="0" dirty="0">
                <a:latin typeface="+mj-ea"/>
                <a:ea typeface="+mj-ea"/>
              </a:rPr>
              <a:t>(RM </a:t>
            </a:r>
            <a:r>
              <a:rPr lang="ko-KR" altLang="en-US" sz="700" b="0" dirty="0">
                <a:latin typeface="+mj-ea"/>
                <a:ea typeface="+mj-ea"/>
              </a:rPr>
              <a:t>시리즈</a:t>
            </a:r>
            <a:r>
              <a:rPr lang="en-US" altLang="ko-KR" sz="700" b="0" dirty="0">
                <a:latin typeface="+mj-ea"/>
                <a:ea typeface="+mj-ea"/>
              </a:rPr>
              <a:t>)</a:t>
            </a:r>
            <a:r>
              <a:rPr lang="ko-KR" altLang="en-US" sz="700" b="0" dirty="0">
                <a:latin typeface="+mj-ea"/>
                <a:ea typeface="+mj-ea"/>
              </a:rPr>
              <a:t>이 정교한 조립이나 서비스 업무를 수행하는 고해상도 이미지</a:t>
            </a:r>
            <a:r>
              <a:rPr lang="en-US" altLang="ko-KR" sz="700" b="0" dirty="0">
                <a:latin typeface="+mj-ea"/>
                <a:ea typeface="+mj-ea"/>
              </a:rPr>
              <a:t>/</a:t>
            </a:r>
            <a:r>
              <a:rPr lang="ko-KR" altLang="en-US" sz="700" b="0" dirty="0">
                <a:latin typeface="+mj-ea"/>
                <a:ea typeface="+mj-ea"/>
              </a:rPr>
              <a:t>영상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메인 카피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로봇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지능을 입다</a:t>
            </a:r>
            <a:r>
              <a:rPr lang="en-US" altLang="ko-KR" sz="700" b="0" dirty="0">
                <a:latin typeface="+mj-ea"/>
                <a:ea typeface="+mj-ea"/>
              </a:rPr>
              <a:t>. REALMAN Embodied AI Platform.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서브 카피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세계 최고 수준의 초경량 하드웨어와 </a:t>
            </a:r>
            <a:r>
              <a:rPr lang="en-US" altLang="ko-KR" sz="700" b="0" dirty="0">
                <a:latin typeface="+mj-ea"/>
                <a:ea typeface="+mj-ea"/>
              </a:rPr>
              <a:t>60,000</a:t>
            </a:r>
            <a:r>
              <a:rPr lang="ko-KR" altLang="en-US" sz="700" b="0" dirty="0">
                <a:latin typeface="+mj-ea"/>
                <a:ea typeface="+mj-ea"/>
              </a:rPr>
              <a:t>개 이상의 학습 데이터를 결합한 차세대 로봇 솔루션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핵심 지표 </a:t>
            </a:r>
            <a:r>
              <a:rPr lang="en-US" altLang="ko-KR" sz="700" b="0" dirty="0">
                <a:latin typeface="+mj-ea"/>
                <a:ea typeface="+mj-ea"/>
              </a:rPr>
              <a:t>(Badge): MTBF 50,000</a:t>
            </a:r>
            <a:r>
              <a:rPr lang="ko-KR" altLang="en-US" sz="700" b="0" dirty="0">
                <a:latin typeface="+mj-ea"/>
                <a:ea typeface="+mj-ea"/>
              </a:rPr>
              <a:t>시간 검증 </a:t>
            </a:r>
            <a:r>
              <a:rPr lang="en-US" altLang="ko-KR" sz="700" b="0" dirty="0">
                <a:latin typeface="+mj-ea"/>
                <a:ea typeface="+mj-ea"/>
              </a:rPr>
              <a:t>| </a:t>
            </a:r>
            <a:r>
              <a:rPr lang="ko-KR" altLang="en-US" sz="700" b="0" dirty="0">
                <a:latin typeface="+mj-ea"/>
                <a:ea typeface="+mj-ea"/>
              </a:rPr>
              <a:t>전 세계 </a:t>
            </a:r>
            <a:r>
              <a:rPr lang="en-US" altLang="ko-KR" sz="700" b="0" dirty="0">
                <a:latin typeface="+mj-ea"/>
                <a:ea typeface="+mj-ea"/>
              </a:rPr>
              <a:t>3,000+ </a:t>
            </a:r>
            <a:r>
              <a:rPr lang="ko-KR" altLang="en-US" sz="700" b="0" dirty="0">
                <a:latin typeface="+mj-ea"/>
                <a:ea typeface="+mj-ea"/>
              </a:rPr>
              <a:t>고객사 선택 </a:t>
            </a:r>
            <a:r>
              <a:rPr lang="en-US" altLang="ko-KR" sz="700" b="0" dirty="0">
                <a:latin typeface="+mj-ea"/>
                <a:ea typeface="+mj-ea"/>
              </a:rPr>
              <a:t>| </a:t>
            </a:r>
            <a:r>
              <a:rPr lang="ko-KR" altLang="en-US" sz="700" b="0" dirty="0">
                <a:latin typeface="+mj-ea"/>
                <a:ea typeface="+mj-ea"/>
              </a:rPr>
              <a:t>초경량 카본 파이버 소재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endParaRPr lang="en-US" altLang="ko-KR" sz="700" b="0" dirty="0">
              <a:latin typeface="+mj-ea"/>
              <a:ea typeface="+mj-ea"/>
            </a:endParaRPr>
          </a:p>
          <a:p>
            <a:r>
              <a:rPr lang="en-US" altLang="ko-KR" sz="700" b="0" dirty="0">
                <a:latin typeface="+mj-ea"/>
                <a:ea typeface="+mj-ea"/>
              </a:rPr>
              <a:t>2. Brand Value: </a:t>
            </a:r>
            <a:r>
              <a:rPr lang="ko-KR" altLang="en-US" sz="700" b="0" dirty="0">
                <a:latin typeface="+mj-ea"/>
                <a:ea typeface="+mj-ea"/>
              </a:rPr>
              <a:t>왜 </a:t>
            </a:r>
            <a:r>
              <a:rPr lang="en-US" altLang="ko-KR" sz="700" b="0" dirty="0">
                <a:latin typeface="+mj-ea"/>
                <a:ea typeface="+mj-ea"/>
              </a:rPr>
              <a:t>REALMAN</a:t>
            </a:r>
            <a:r>
              <a:rPr lang="ko-KR" altLang="en-US" sz="700" b="0" dirty="0">
                <a:latin typeface="+mj-ea"/>
                <a:ea typeface="+mj-ea"/>
              </a:rPr>
              <a:t>인가</a:t>
            </a:r>
            <a:r>
              <a:rPr lang="en-US" altLang="ko-KR" sz="700" b="0" dirty="0">
                <a:latin typeface="+mj-ea"/>
                <a:ea typeface="+mj-ea"/>
              </a:rPr>
              <a:t>?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Infrastructure for AI: 2018</a:t>
            </a:r>
            <a:r>
              <a:rPr lang="ko-KR" altLang="en-US" sz="700" b="0" dirty="0">
                <a:latin typeface="+mj-ea"/>
                <a:ea typeface="+mj-ea"/>
              </a:rPr>
              <a:t>년부터 축적된 정밀 관절 기술과 로봇 팔 제조 노하우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Hardware + Data + Network: </a:t>
            </a:r>
            <a:r>
              <a:rPr lang="ko-KR" altLang="en-US" sz="700" b="0" dirty="0">
                <a:latin typeface="+mj-ea"/>
                <a:ea typeface="+mj-ea"/>
              </a:rPr>
              <a:t>단순 하드웨어를 넘어</a:t>
            </a:r>
            <a:r>
              <a:rPr lang="en-US" altLang="ko-KR" sz="700" b="0" dirty="0">
                <a:latin typeface="+mj-ea"/>
                <a:ea typeface="+mj-ea"/>
              </a:rPr>
              <a:t>, AI </a:t>
            </a:r>
            <a:r>
              <a:rPr lang="ko-KR" altLang="en-US" sz="700" b="0" dirty="0">
                <a:latin typeface="+mj-ea"/>
                <a:ea typeface="+mj-ea"/>
              </a:rPr>
              <a:t>모델 학습을 위한 </a:t>
            </a:r>
            <a:r>
              <a:rPr lang="ko-KR" altLang="en-US" sz="700" b="0" dirty="0" err="1">
                <a:latin typeface="+mj-ea"/>
                <a:ea typeface="+mj-ea"/>
              </a:rPr>
              <a:t>리얼월드</a:t>
            </a:r>
            <a:r>
              <a:rPr lang="ko-KR" altLang="en-US" sz="700" b="0" dirty="0">
                <a:latin typeface="+mj-ea"/>
                <a:ea typeface="+mj-ea"/>
              </a:rPr>
              <a:t> 궤적</a:t>
            </a:r>
            <a:r>
              <a:rPr lang="en-US" altLang="ko-KR" sz="700" b="0" dirty="0">
                <a:latin typeface="+mj-ea"/>
                <a:ea typeface="+mj-ea"/>
              </a:rPr>
              <a:t>(Trajectory) </a:t>
            </a:r>
            <a:r>
              <a:rPr lang="ko-KR" altLang="en-US" sz="700" b="0" dirty="0">
                <a:latin typeface="+mj-ea"/>
                <a:ea typeface="+mj-ea"/>
              </a:rPr>
              <a:t>데이터까지 제공하는 유일무이한 플랫폼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Reliability: </a:t>
            </a:r>
            <a:r>
              <a:rPr lang="ko-KR" altLang="en-US" sz="700" b="0" dirty="0">
                <a:latin typeface="+mj-ea"/>
                <a:ea typeface="+mj-ea"/>
              </a:rPr>
              <a:t>산업용 수준의 내구성</a:t>
            </a:r>
            <a:r>
              <a:rPr lang="en-US" altLang="ko-KR" sz="700" b="0" dirty="0">
                <a:latin typeface="+mj-ea"/>
                <a:ea typeface="+mj-ea"/>
              </a:rPr>
              <a:t>(ROHS/Reach </a:t>
            </a:r>
            <a:r>
              <a:rPr lang="ko-KR" altLang="en-US" sz="700" b="0" dirty="0">
                <a:latin typeface="+mj-ea"/>
                <a:ea typeface="+mj-ea"/>
              </a:rPr>
              <a:t>인증</a:t>
            </a:r>
            <a:r>
              <a:rPr lang="en-US" altLang="ko-KR" sz="700" b="0" dirty="0">
                <a:latin typeface="+mj-ea"/>
                <a:ea typeface="+mj-ea"/>
              </a:rPr>
              <a:t>)</a:t>
            </a:r>
            <a:r>
              <a:rPr lang="ko-KR" altLang="en-US" sz="700" b="0" dirty="0">
                <a:latin typeface="+mj-ea"/>
                <a:ea typeface="+mj-ea"/>
              </a:rPr>
              <a:t>과 상업용 수준의 유연함을 동시에 확보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endParaRPr lang="en-US" altLang="ko-KR" sz="700" b="0" dirty="0">
              <a:latin typeface="+mj-ea"/>
              <a:ea typeface="+mj-ea"/>
            </a:endParaRPr>
          </a:p>
          <a:p>
            <a:r>
              <a:rPr lang="en-US" altLang="ko-KR" sz="700" b="0" dirty="0">
                <a:latin typeface="+mj-ea"/>
                <a:ea typeface="+mj-ea"/>
              </a:rPr>
              <a:t>3. Product Lineup: </a:t>
            </a:r>
            <a:r>
              <a:rPr lang="ko-KR" altLang="en-US" sz="700" b="0" dirty="0">
                <a:latin typeface="+mj-ea"/>
                <a:ea typeface="+mj-ea"/>
              </a:rPr>
              <a:t>용도별 최적의 선택</a:t>
            </a:r>
          </a:p>
          <a:p>
            <a:r>
              <a:rPr lang="ko-KR" altLang="en-US" sz="700" b="0" dirty="0">
                <a:latin typeface="+mj-ea"/>
                <a:ea typeface="+mj-ea"/>
              </a:rPr>
              <a:t>① </a:t>
            </a:r>
            <a:r>
              <a:rPr lang="en-US" altLang="ko-KR" sz="700" b="0" dirty="0">
                <a:latin typeface="+mj-ea"/>
                <a:ea typeface="+mj-ea"/>
              </a:rPr>
              <a:t>RM </a:t>
            </a:r>
            <a:r>
              <a:rPr lang="ko-KR" altLang="en-US" sz="700" b="0" dirty="0">
                <a:latin typeface="+mj-ea"/>
                <a:ea typeface="+mj-ea"/>
              </a:rPr>
              <a:t>시리즈 </a:t>
            </a:r>
            <a:r>
              <a:rPr lang="en-US" altLang="ko-KR" sz="700" b="0" dirty="0">
                <a:latin typeface="+mj-ea"/>
                <a:ea typeface="+mj-ea"/>
              </a:rPr>
              <a:t>(Flagship Ultra-lightweight)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특징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카본 파이버 소재의 초경량 설계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높은 페이로드 대 </a:t>
            </a:r>
            <a:r>
              <a:rPr lang="ko-KR" altLang="en-US" sz="700" b="0" dirty="0" err="1">
                <a:latin typeface="+mj-ea"/>
                <a:ea typeface="+mj-ea"/>
              </a:rPr>
              <a:t>중량비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강점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협소한 공간에서의 정밀 작업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모바일 플랫폼</a:t>
            </a:r>
            <a:r>
              <a:rPr lang="en-US" altLang="ko-KR" sz="700" b="0" dirty="0">
                <a:latin typeface="+mj-ea"/>
                <a:ea typeface="+mj-ea"/>
              </a:rPr>
              <a:t>(AGV/AMR) </a:t>
            </a:r>
            <a:r>
              <a:rPr lang="ko-KR" altLang="en-US" sz="700" b="0" dirty="0">
                <a:latin typeface="+mj-ea"/>
                <a:ea typeface="+mj-ea"/>
              </a:rPr>
              <a:t>결합 최적화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② ECO </a:t>
            </a:r>
            <a:r>
              <a:rPr lang="ko-KR" altLang="en-US" sz="700" b="0" dirty="0">
                <a:latin typeface="+mj-ea"/>
                <a:ea typeface="+mj-ea"/>
              </a:rPr>
              <a:t>시리즈 </a:t>
            </a:r>
            <a:r>
              <a:rPr lang="en-US" altLang="ko-KR" sz="700" b="0" dirty="0">
                <a:latin typeface="+mj-ea"/>
                <a:ea typeface="+mj-ea"/>
              </a:rPr>
              <a:t>(Cost-effective &amp; Versatile)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특징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합리적인 가격대에 실속 있는 성능을 담은 보급형 라인업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강점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교육 기관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서비스 업종</a:t>
            </a:r>
            <a:r>
              <a:rPr lang="en-US" altLang="ko-KR" sz="700" b="0" dirty="0">
                <a:latin typeface="+mj-ea"/>
                <a:ea typeface="+mj-ea"/>
              </a:rPr>
              <a:t>(</a:t>
            </a:r>
            <a:r>
              <a:rPr lang="ko-KR" altLang="en-US" sz="700" b="0" dirty="0">
                <a:latin typeface="+mj-ea"/>
                <a:ea typeface="+mj-ea"/>
              </a:rPr>
              <a:t>커피</a:t>
            </a:r>
            <a:r>
              <a:rPr lang="en-US" altLang="ko-KR" sz="700" b="0" dirty="0">
                <a:latin typeface="+mj-ea"/>
                <a:ea typeface="+mj-ea"/>
              </a:rPr>
              <a:t>/</a:t>
            </a:r>
            <a:r>
              <a:rPr lang="ko-KR" altLang="en-US" sz="700" b="0" dirty="0">
                <a:latin typeface="+mj-ea"/>
                <a:ea typeface="+mj-ea"/>
              </a:rPr>
              <a:t>서빙</a:t>
            </a:r>
            <a:r>
              <a:rPr lang="en-US" altLang="ko-KR" sz="700" b="0" dirty="0">
                <a:latin typeface="+mj-ea"/>
                <a:ea typeface="+mj-ea"/>
              </a:rPr>
              <a:t>), </a:t>
            </a:r>
            <a:r>
              <a:rPr lang="ko-KR" altLang="en-US" sz="700" b="0" dirty="0">
                <a:latin typeface="+mj-ea"/>
                <a:ea typeface="+mj-ea"/>
              </a:rPr>
              <a:t>초기 스타트업 프로토타이핑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③ Dual-Arm &amp; Mobile Platform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특징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인간의 양팔 동작을 모사하는 듀얼 암 시스템 및 이동형 베이스 결합형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강점</a:t>
            </a:r>
            <a:r>
              <a:rPr lang="en-US" altLang="ko-KR" sz="700" b="0" dirty="0">
                <a:latin typeface="+mj-ea"/>
                <a:ea typeface="+mj-ea"/>
              </a:rPr>
              <a:t>: </a:t>
            </a:r>
            <a:r>
              <a:rPr lang="ko-KR" altLang="en-US" sz="700" b="0" dirty="0">
                <a:latin typeface="+mj-ea"/>
                <a:ea typeface="+mj-ea"/>
              </a:rPr>
              <a:t>복잡한 양팔 협업 과제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대형 제조 공정 및 복합 서비스 환경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endParaRPr lang="en-US" altLang="ko-KR" sz="700" b="0" dirty="0">
              <a:latin typeface="+mj-ea"/>
              <a:ea typeface="+mj-ea"/>
            </a:endParaRPr>
          </a:p>
          <a:p>
            <a:r>
              <a:rPr lang="en-US" altLang="ko-KR" sz="700" b="0" dirty="0">
                <a:latin typeface="+mj-ea"/>
                <a:ea typeface="+mj-ea"/>
              </a:rPr>
              <a:t>4. Technical Core: </a:t>
            </a:r>
            <a:r>
              <a:rPr lang="ko-KR" altLang="en-US" sz="700" b="0" dirty="0">
                <a:latin typeface="+mj-ea"/>
                <a:ea typeface="+mj-ea"/>
              </a:rPr>
              <a:t>독보적인 하드웨어 경쟁력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[01] </a:t>
            </a:r>
            <a:r>
              <a:rPr lang="ko-KR" altLang="en-US" sz="700" b="0" dirty="0">
                <a:latin typeface="+mj-ea"/>
                <a:ea typeface="+mj-ea"/>
              </a:rPr>
              <a:t>통합 지능형 관절 모듈 </a:t>
            </a:r>
            <a:r>
              <a:rPr lang="en-US" altLang="ko-KR" sz="700" b="0" dirty="0">
                <a:latin typeface="+mj-ea"/>
                <a:ea typeface="+mj-ea"/>
              </a:rPr>
              <a:t>(Integrated Joint Modules)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모터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감속기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 err="1">
                <a:latin typeface="+mj-ea"/>
                <a:ea typeface="+mj-ea"/>
              </a:rPr>
              <a:t>엔코더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드라이버를 하나로 통합한 초소형</a:t>
            </a:r>
            <a:r>
              <a:rPr lang="en-US" altLang="ko-KR" sz="700" b="0" dirty="0">
                <a:latin typeface="+mj-ea"/>
                <a:ea typeface="+mj-ea"/>
              </a:rPr>
              <a:t>/</a:t>
            </a:r>
            <a:r>
              <a:rPr lang="ko-KR" altLang="en-US" sz="700" b="0" dirty="0" err="1">
                <a:latin typeface="+mj-ea"/>
                <a:ea typeface="+mj-ea"/>
              </a:rPr>
              <a:t>고토크</a:t>
            </a:r>
            <a:r>
              <a:rPr lang="ko-KR" altLang="en-US" sz="700" b="0" dirty="0">
                <a:latin typeface="+mj-ea"/>
                <a:ea typeface="+mj-ea"/>
              </a:rPr>
              <a:t> 관절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자체 개발 관절을 통한 높은 유지보수 효율과 부드러운 제어력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[02] </a:t>
            </a:r>
            <a:r>
              <a:rPr lang="ko-KR" altLang="en-US" sz="700" b="0" dirty="0">
                <a:latin typeface="+mj-ea"/>
                <a:ea typeface="+mj-ea"/>
              </a:rPr>
              <a:t>초경량 카본 파이버 바디</a:t>
            </a:r>
          </a:p>
          <a:p>
            <a:r>
              <a:rPr lang="ko-KR" altLang="en-US" sz="700" b="0" dirty="0">
                <a:latin typeface="+mj-ea"/>
                <a:ea typeface="+mj-ea"/>
              </a:rPr>
              <a:t>* 타사 대비 획기적으로 가벼운 무게로 이동성이 뛰어나며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에너지 효율 극대화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[03] </a:t>
            </a:r>
            <a:r>
              <a:rPr lang="ko-KR" altLang="en-US" sz="700" b="0" dirty="0">
                <a:latin typeface="+mj-ea"/>
                <a:ea typeface="+mj-ea"/>
              </a:rPr>
              <a:t>개방형 생태계 </a:t>
            </a:r>
            <a:r>
              <a:rPr lang="en-US" altLang="ko-KR" sz="700" b="0" dirty="0">
                <a:latin typeface="+mj-ea"/>
                <a:ea typeface="+mj-ea"/>
              </a:rPr>
              <a:t>(Open Ecosystem)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ROS/ROS2, Python, C++, Android </a:t>
            </a:r>
            <a:r>
              <a:rPr lang="ko-KR" altLang="en-US" sz="700" b="0" dirty="0">
                <a:latin typeface="+mj-ea"/>
                <a:ea typeface="+mj-ea"/>
              </a:rPr>
              <a:t>지원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풍부한 </a:t>
            </a:r>
            <a:r>
              <a:rPr lang="en-US" altLang="ko-KR" sz="700" b="0" dirty="0">
                <a:latin typeface="+mj-ea"/>
                <a:ea typeface="+mj-ea"/>
              </a:rPr>
              <a:t>SDK</a:t>
            </a:r>
            <a:r>
              <a:rPr lang="ko-KR" altLang="en-US" sz="700" b="0" dirty="0">
                <a:latin typeface="+mj-ea"/>
                <a:ea typeface="+mj-ea"/>
              </a:rPr>
              <a:t>와 </a:t>
            </a:r>
            <a:r>
              <a:rPr lang="en-US" altLang="ko-KR" sz="700" b="0" dirty="0">
                <a:latin typeface="+mj-ea"/>
                <a:ea typeface="+mj-ea"/>
              </a:rPr>
              <a:t>API </a:t>
            </a:r>
            <a:r>
              <a:rPr lang="ko-KR" altLang="en-US" sz="700" b="0" dirty="0">
                <a:latin typeface="+mj-ea"/>
                <a:ea typeface="+mj-ea"/>
              </a:rPr>
              <a:t>제공으로 </a:t>
            </a:r>
            <a:r>
              <a:rPr lang="en-US" altLang="ko-KR" sz="700" b="0" dirty="0">
                <a:latin typeface="+mj-ea"/>
                <a:ea typeface="+mj-ea"/>
              </a:rPr>
              <a:t>AI </a:t>
            </a:r>
            <a:r>
              <a:rPr lang="ko-KR" altLang="en-US" sz="700" b="0" dirty="0">
                <a:latin typeface="+mj-ea"/>
                <a:ea typeface="+mj-ea"/>
              </a:rPr>
              <a:t>연구자 및 소프트웨어 개발자의 접근성 극대화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endParaRPr lang="en-US" altLang="ko-KR" sz="700" b="0" dirty="0">
              <a:latin typeface="+mj-ea"/>
              <a:ea typeface="+mj-ea"/>
            </a:endParaRPr>
          </a:p>
          <a:p>
            <a:r>
              <a:rPr lang="en-US" altLang="ko-KR" sz="700" b="0" dirty="0">
                <a:latin typeface="+mj-ea"/>
                <a:ea typeface="+mj-ea"/>
              </a:rPr>
              <a:t>5. Intelligence Service: AI </a:t>
            </a:r>
            <a:r>
              <a:rPr lang="ko-KR" altLang="en-US" sz="700" b="0" dirty="0">
                <a:latin typeface="+mj-ea"/>
                <a:ea typeface="+mj-ea"/>
              </a:rPr>
              <a:t>학습 데이터 </a:t>
            </a:r>
            <a:r>
              <a:rPr lang="en-US" altLang="ko-KR" sz="700" b="0" dirty="0">
                <a:latin typeface="+mj-ea"/>
                <a:ea typeface="+mj-ea"/>
              </a:rPr>
              <a:t>(Data Flywheel)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카피</a:t>
            </a:r>
            <a:r>
              <a:rPr lang="en-US" altLang="ko-KR" sz="700" b="0" dirty="0">
                <a:latin typeface="+mj-ea"/>
                <a:ea typeface="+mj-ea"/>
              </a:rPr>
              <a:t>: "</a:t>
            </a:r>
            <a:r>
              <a:rPr lang="ko-KR" altLang="en-US" sz="700" b="0" dirty="0">
                <a:latin typeface="+mj-ea"/>
                <a:ea typeface="+mj-ea"/>
              </a:rPr>
              <a:t>하드웨어를 넘어 지능을 배송합니다</a:t>
            </a:r>
            <a:r>
              <a:rPr lang="en-US" altLang="ko-KR" sz="700" b="0" dirty="0">
                <a:latin typeface="+mj-ea"/>
                <a:ea typeface="+mj-ea"/>
              </a:rPr>
              <a:t>."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</a:t>
            </a:r>
            <a:r>
              <a:rPr lang="ko-KR" altLang="en-US" sz="700" b="0" dirty="0">
                <a:latin typeface="+mj-ea"/>
                <a:ea typeface="+mj-ea"/>
              </a:rPr>
              <a:t>내용</a:t>
            </a:r>
            <a:r>
              <a:rPr lang="en-US" altLang="ko-KR" sz="700" b="0" dirty="0">
                <a:latin typeface="+mj-ea"/>
                <a:ea typeface="+mj-ea"/>
              </a:rPr>
              <a:t>: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o </a:t>
            </a:r>
            <a:r>
              <a:rPr lang="ko-KR" altLang="en-US" sz="700" b="0" dirty="0">
                <a:latin typeface="+mj-ea"/>
                <a:ea typeface="+mj-ea"/>
              </a:rPr>
              <a:t>매일 </a:t>
            </a:r>
            <a:r>
              <a:rPr lang="en-US" altLang="ko-KR" sz="700" b="0" dirty="0">
                <a:latin typeface="+mj-ea"/>
                <a:ea typeface="+mj-ea"/>
              </a:rPr>
              <a:t>60,000</a:t>
            </a:r>
            <a:r>
              <a:rPr lang="ko-KR" altLang="en-US" sz="700" b="0" dirty="0">
                <a:latin typeface="+mj-ea"/>
                <a:ea typeface="+mj-ea"/>
              </a:rPr>
              <a:t>개 이상의 실제 주행</a:t>
            </a:r>
            <a:r>
              <a:rPr lang="en-US" altLang="ko-KR" sz="700" b="0" dirty="0">
                <a:latin typeface="+mj-ea"/>
                <a:ea typeface="+mj-ea"/>
              </a:rPr>
              <a:t>/</a:t>
            </a:r>
            <a:r>
              <a:rPr lang="ko-KR" altLang="en-US" sz="700" b="0" dirty="0">
                <a:latin typeface="+mj-ea"/>
                <a:ea typeface="+mj-ea"/>
              </a:rPr>
              <a:t>작업 궤적 데이터 생성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o </a:t>
            </a:r>
            <a:r>
              <a:rPr lang="ko-KR" altLang="en-US" sz="700" b="0" dirty="0" err="1">
                <a:latin typeface="+mj-ea"/>
                <a:ea typeface="+mj-ea"/>
              </a:rPr>
              <a:t>멀티뷰</a:t>
            </a:r>
            <a:r>
              <a:rPr lang="ko-KR" altLang="en-US" sz="700" b="0" dirty="0">
                <a:latin typeface="+mj-ea"/>
                <a:ea typeface="+mj-ea"/>
              </a:rPr>
              <a:t> 비전 데이터와 하드웨어 동기화된 데이터 세트 제공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o Embodied AI </a:t>
            </a:r>
            <a:r>
              <a:rPr lang="ko-KR" altLang="en-US" sz="700" b="0" dirty="0">
                <a:latin typeface="+mj-ea"/>
                <a:ea typeface="+mj-ea"/>
              </a:rPr>
              <a:t>모델 학습을 위한 표준화된 포맷 지원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endParaRPr lang="en-US" altLang="ko-KR" sz="700" b="0" dirty="0">
              <a:latin typeface="+mj-ea"/>
              <a:ea typeface="+mj-ea"/>
            </a:endParaRPr>
          </a:p>
          <a:p>
            <a:r>
              <a:rPr lang="en-US" altLang="ko-KR" sz="700" b="0" dirty="0">
                <a:latin typeface="+mj-ea"/>
                <a:ea typeface="+mj-ea"/>
              </a:rPr>
              <a:t>6. Application: </a:t>
            </a:r>
            <a:r>
              <a:rPr lang="ko-KR" altLang="en-US" sz="700" b="0" dirty="0">
                <a:latin typeface="+mj-ea"/>
                <a:ea typeface="+mj-ea"/>
              </a:rPr>
              <a:t>무한한 확장성</a:t>
            </a:r>
          </a:p>
          <a:p>
            <a:r>
              <a:rPr lang="ko-KR" altLang="en-US" sz="700" b="0" dirty="0">
                <a:latin typeface="+mj-ea"/>
                <a:ea typeface="+mj-ea"/>
              </a:rPr>
              <a:t>* </a:t>
            </a:r>
            <a:r>
              <a:rPr lang="en-US" altLang="ko-KR" sz="700" b="0" dirty="0">
                <a:latin typeface="+mj-ea"/>
                <a:ea typeface="+mj-ea"/>
              </a:rPr>
              <a:t>Commercial: </a:t>
            </a:r>
            <a:r>
              <a:rPr lang="ko-KR" altLang="en-US" sz="700" b="0" dirty="0">
                <a:latin typeface="+mj-ea"/>
                <a:ea typeface="+mj-ea"/>
              </a:rPr>
              <a:t>바리스타 로봇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조리 로봇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리테일 자동화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Healthcare: </a:t>
            </a:r>
            <a:r>
              <a:rPr lang="ko-KR" altLang="en-US" sz="700" b="0" dirty="0">
                <a:latin typeface="+mj-ea"/>
                <a:ea typeface="+mj-ea"/>
              </a:rPr>
              <a:t>물리치료 보조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원격 의료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시료 취급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Research: AI </a:t>
            </a:r>
            <a:r>
              <a:rPr lang="ko-KR" altLang="en-US" sz="700" b="0" dirty="0">
                <a:latin typeface="+mj-ea"/>
                <a:ea typeface="+mj-ea"/>
              </a:rPr>
              <a:t>강화학습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 err="1">
                <a:latin typeface="+mj-ea"/>
                <a:ea typeface="+mj-ea"/>
              </a:rPr>
              <a:t>휴머노이드</a:t>
            </a:r>
            <a:r>
              <a:rPr lang="ko-KR" altLang="en-US" sz="700" b="0" dirty="0">
                <a:latin typeface="+mj-ea"/>
                <a:ea typeface="+mj-ea"/>
              </a:rPr>
              <a:t> 상체 연구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대학 교육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* Inspection: </a:t>
            </a:r>
            <a:r>
              <a:rPr lang="ko-KR" altLang="en-US" sz="700" b="0" dirty="0">
                <a:latin typeface="+mj-ea"/>
                <a:ea typeface="+mj-ea"/>
              </a:rPr>
              <a:t>전력 설비 점검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위험 지역 탐사 및 작업</a:t>
            </a:r>
            <a:r>
              <a:rPr lang="en-US" altLang="ko-KR" sz="700" b="0" dirty="0">
                <a:latin typeface="+mj-ea"/>
                <a:ea typeface="+mj-ea"/>
              </a:rPr>
              <a:t>.</a:t>
            </a:r>
          </a:p>
          <a:p>
            <a:endParaRPr lang="en-US" altLang="ko-KR" sz="700" b="0" dirty="0">
              <a:latin typeface="+mj-ea"/>
              <a:ea typeface="+mj-ea"/>
            </a:endParaRPr>
          </a:p>
          <a:p>
            <a:r>
              <a:rPr lang="en-US" altLang="ko-KR" sz="700" b="0" dirty="0">
                <a:latin typeface="+mj-ea"/>
                <a:ea typeface="+mj-ea"/>
              </a:rPr>
              <a:t>7. Spec Comparison (</a:t>
            </a:r>
            <a:r>
              <a:rPr lang="ko-KR" altLang="en-US" sz="700" b="0" dirty="0">
                <a:latin typeface="+mj-ea"/>
                <a:ea typeface="+mj-ea"/>
              </a:rPr>
              <a:t>핵심 사양 비교표</a:t>
            </a:r>
            <a:r>
              <a:rPr lang="en-US" altLang="ko-KR" sz="700" b="0" dirty="0">
                <a:latin typeface="+mj-ea"/>
                <a:ea typeface="+mj-ea"/>
              </a:rPr>
              <a:t>)</a:t>
            </a:r>
          </a:p>
          <a:p>
            <a:r>
              <a:rPr lang="en-US" altLang="ko-KR" sz="700" b="0" dirty="0">
                <a:latin typeface="+mj-ea"/>
                <a:ea typeface="+mj-ea"/>
              </a:rPr>
              <a:t>(</a:t>
            </a:r>
            <a:r>
              <a:rPr lang="ko-KR" altLang="en-US" sz="700" b="0" dirty="0">
                <a:latin typeface="+mj-ea"/>
                <a:ea typeface="+mj-ea"/>
              </a:rPr>
              <a:t>카탈로그의 데이터를 바탕으로 </a:t>
            </a:r>
            <a:r>
              <a:rPr lang="en-US" altLang="ko-KR" sz="700" b="0" dirty="0">
                <a:latin typeface="+mj-ea"/>
                <a:ea typeface="+mj-ea"/>
              </a:rPr>
              <a:t>RM65, RM75 </a:t>
            </a:r>
            <a:r>
              <a:rPr lang="ko-KR" altLang="en-US" sz="700" b="0" dirty="0">
                <a:latin typeface="+mj-ea"/>
                <a:ea typeface="+mj-ea"/>
              </a:rPr>
              <a:t>등의 페이로드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무게</a:t>
            </a:r>
            <a:r>
              <a:rPr lang="en-US" altLang="ko-KR" sz="700" b="0" dirty="0">
                <a:latin typeface="+mj-ea"/>
                <a:ea typeface="+mj-ea"/>
              </a:rPr>
              <a:t>, </a:t>
            </a:r>
            <a:r>
              <a:rPr lang="ko-KR" altLang="en-US" sz="700" b="0" dirty="0">
                <a:latin typeface="+mj-ea"/>
                <a:ea typeface="+mj-ea"/>
              </a:rPr>
              <a:t>작업 반경을 표로 구성</a:t>
            </a:r>
            <a:r>
              <a:rPr lang="en-US" altLang="ko-KR" sz="700" b="0" dirty="0">
                <a:latin typeface="+mj-ea"/>
                <a:ea typeface="+mj-ea"/>
              </a:rPr>
              <a:t>)</a:t>
            </a:r>
            <a:endParaRPr lang="ko-KR" altLang="en-US" sz="7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4611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39F96-42CB-140E-2F77-159CEA033E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6724" y="514350"/>
            <a:ext cx="3872193" cy="603997"/>
          </a:xfrm>
        </p:spPr>
        <p:txBody>
          <a:bodyPr/>
          <a:lstStyle/>
          <a:p>
            <a:r>
              <a:rPr lang="ko-KR" altLang="en-US" dirty="0"/>
              <a:t>추가 게시판</a:t>
            </a:r>
            <a:endParaRPr lang="en-US" altLang="ko-KR" dirty="0"/>
          </a:p>
          <a:p>
            <a:r>
              <a:rPr lang="ko-KR" altLang="en-US" sz="1000" b="0" dirty="0"/>
              <a:t>협업 게시판</a:t>
            </a:r>
            <a:r>
              <a:rPr lang="en-US" altLang="ko-KR" sz="1000" b="0" dirty="0"/>
              <a:t>, </a:t>
            </a:r>
            <a:r>
              <a:rPr lang="ko-KR" altLang="en-US" sz="1000" b="0" dirty="0"/>
              <a:t>공지사항</a:t>
            </a:r>
            <a:r>
              <a:rPr lang="en-US" altLang="ko-KR" sz="1000" b="0" dirty="0"/>
              <a:t>, SNS </a:t>
            </a:r>
            <a:r>
              <a:rPr lang="ko-KR" altLang="en-US" sz="1000" b="0" dirty="0"/>
              <a:t>게시판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1D3CDCE-8CE0-C998-F60E-3C27A9FAF46A}"/>
              </a:ext>
            </a:extLst>
          </p:cNvPr>
          <p:cNvSpPr txBox="1">
            <a:spLocks/>
          </p:cNvSpPr>
          <p:nvPr/>
        </p:nvSpPr>
        <p:spPr>
          <a:xfrm>
            <a:off x="466724" y="1724025"/>
            <a:ext cx="3872193" cy="603997"/>
          </a:xfrm>
          <a:prstGeom prst="rect">
            <a:avLst/>
          </a:prstGeom>
        </p:spPr>
        <p:txBody>
          <a:bodyPr/>
          <a:lstStyle>
            <a:lvl1pPr marL="179977" indent="-179977" algn="l" defTabSz="719907" rtl="0" eaLnBrk="1" latinLnBrk="1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930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9884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37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791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79745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9698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99652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59605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요청사항</a:t>
            </a:r>
            <a:endParaRPr lang="en-US" altLang="ko-KR" dirty="0"/>
          </a:p>
          <a:p>
            <a:r>
              <a:rPr lang="en-US" altLang="ko-KR" sz="1000" b="0" dirty="0"/>
              <a:t>A002 </a:t>
            </a:r>
            <a:r>
              <a:rPr lang="ko-KR" altLang="en-US" sz="1000" b="0" dirty="0"/>
              <a:t>스펙 확인을 위한 자료 필요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D685CA6-95B0-6992-1072-92B94835E13F}"/>
              </a:ext>
            </a:extLst>
          </p:cNvPr>
          <p:cNvSpPr txBox="1">
            <a:spLocks/>
          </p:cNvSpPr>
          <p:nvPr/>
        </p:nvSpPr>
        <p:spPr>
          <a:xfrm>
            <a:off x="466724" y="2933700"/>
            <a:ext cx="3872193" cy="4228131"/>
          </a:xfrm>
          <a:prstGeom prst="rect">
            <a:avLst/>
          </a:prstGeom>
        </p:spPr>
        <p:txBody>
          <a:bodyPr/>
          <a:lstStyle>
            <a:lvl1pPr marL="179977" indent="-179977" algn="l" defTabSz="719907" rtl="0" eaLnBrk="1" latinLnBrk="1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930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9884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837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9791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79745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9698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99652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59605" indent="-179977" algn="l" defTabSz="719907" rtl="0" eaLnBrk="1" latinLnBrk="1" hangingPunct="1">
              <a:lnSpc>
                <a:spcPct val="90000"/>
              </a:lnSpc>
              <a:spcBef>
                <a:spcPts val="394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필요 자료</a:t>
            </a:r>
            <a:endParaRPr lang="en-US" altLang="ko-KR" dirty="0"/>
          </a:p>
          <a:p>
            <a:r>
              <a:rPr lang="ko-KR" altLang="en-US" sz="1000" b="0" dirty="0"/>
              <a:t>제품별 고화질 이미지 </a:t>
            </a:r>
            <a:r>
              <a:rPr lang="en-US" altLang="ko-KR" sz="1000" b="0" dirty="0"/>
              <a:t>(GEMINI </a:t>
            </a:r>
            <a:r>
              <a:rPr lang="ko-KR" altLang="en-US" sz="1000" b="0" dirty="0" err="1"/>
              <a:t>바노</a:t>
            </a:r>
            <a:r>
              <a:rPr lang="ko-KR" altLang="en-US" sz="1000" b="0" dirty="0"/>
              <a:t> 바나나 이용 중</a:t>
            </a:r>
            <a:r>
              <a:rPr lang="en-US" altLang="ko-KR" sz="1000" b="0" dirty="0"/>
              <a:t>)</a:t>
            </a:r>
          </a:p>
          <a:p>
            <a:r>
              <a:rPr lang="ko-KR" altLang="en-US" sz="1000" b="0" dirty="0"/>
              <a:t>고품질 영상</a:t>
            </a:r>
            <a:r>
              <a:rPr lang="en-US" altLang="ko-KR" sz="1000" b="0" dirty="0"/>
              <a:t> (</a:t>
            </a:r>
            <a:r>
              <a:rPr lang="ko-KR" altLang="en-US" sz="1000" b="0" dirty="0"/>
              <a:t>고품질 올리는 영상 찾는 중</a:t>
            </a:r>
            <a:r>
              <a:rPr lang="en-US" altLang="ko-KR" sz="1000" b="0" dirty="0"/>
              <a:t>)</a:t>
            </a:r>
          </a:p>
          <a:p>
            <a:endParaRPr lang="ko-KR" alt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89902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</TotalTime>
  <Words>2009</Words>
  <Application>Microsoft Office PowerPoint</Application>
  <PresentationFormat>사용자 지정</PresentationFormat>
  <Paragraphs>196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riners@naver.com</dc:creator>
  <cp:lastModifiedBy>riners@naver.com</cp:lastModifiedBy>
  <cp:revision>56</cp:revision>
  <dcterms:created xsi:type="dcterms:W3CDTF">2026-04-01T06:44:36Z</dcterms:created>
  <dcterms:modified xsi:type="dcterms:W3CDTF">2026-04-06T06:26:26Z</dcterms:modified>
</cp:coreProperties>
</file>